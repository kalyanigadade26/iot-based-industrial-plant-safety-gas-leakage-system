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28" r:id="rId1"/>
  </p:sldMasterIdLst>
  <p:sldIdLst>
    <p:sldId id="256" r:id="rId2"/>
    <p:sldId id="258" r:id="rId3"/>
    <p:sldId id="266" r:id="rId4"/>
    <p:sldId id="267" r:id="rId5"/>
    <p:sldId id="257" r:id="rId6"/>
    <p:sldId id="259" r:id="rId7"/>
    <p:sldId id="261" r:id="rId8"/>
    <p:sldId id="260" r:id="rId9"/>
    <p:sldId id="262" r:id="rId10"/>
    <p:sldId id="265" r:id="rId11"/>
    <p:sldId id="263" r:id="rId12"/>
    <p:sldId id="264"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484" autoAdjust="0"/>
  </p:normalViewPr>
  <p:slideViewPr>
    <p:cSldViewPr>
      <p:cViewPr>
        <p:scale>
          <a:sx n="66" d="100"/>
          <a:sy n="66" d="100"/>
        </p:scale>
        <p:origin x="-1506" y="-174"/>
      </p:cViewPr>
      <p:guideLst>
        <p:guide orient="horz" pos="2160"/>
        <p:guide pos="2880"/>
      </p:guideLst>
    </p:cSldViewPr>
  </p:slideViewPr>
  <p:outlineViewPr>
    <p:cViewPr>
      <p:scale>
        <a:sx n="33" d="100"/>
        <a:sy n="33" d="100"/>
      </p:scale>
      <p:origin x="0" y="90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243C5B46-2A9A-4740-BE99-13B4F4662728}" type="datetimeFigureOut">
              <a:rPr lang="en-IN" smtClean="0"/>
              <a:t>06/11/2024</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D8CEFA5A-C836-408A-8ED5-AE1804696402}"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43C5B46-2A9A-4740-BE99-13B4F4662728}" type="datetimeFigureOut">
              <a:rPr lang="en-IN" smtClean="0"/>
              <a:t>06/11/2024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D8CEFA5A-C836-408A-8ED5-AE1804696402}" type="slidenum">
              <a:rPr lang="en-IN" smtClean="0"/>
              <a:t>‹#›</a:t>
            </a:fld>
            <a:endParaRPr lang="en-IN"/>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243C5B46-2A9A-4740-BE99-13B4F4662728}" type="datetimeFigureOut">
              <a:rPr lang="en-IN" smtClean="0"/>
              <a:t>06/11/2024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D8CEFA5A-C836-408A-8ED5-AE1804696402}"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243C5B46-2A9A-4740-BE99-13B4F4662728}" type="datetimeFigureOut">
              <a:rPr lang="en-IN" smtClean="0"/>
              <a:t>06/11/2024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D8CEFA5A-C836-408A-8ED5-AE1804696402}" type="slidenum">
              <a:rPr lang="en-IN" smtClean="0"/>
              <a:t>‹#›</a:t>
            </a:fld>
            <a:endParaRPr lang="en-IN"/>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243C5B46-2A9A-4740-BE99-13B4F4662728}" type="datetimeFigureOut">
              <a:rPr lang="en-IN" smtClean="0"/>
              <a:t>06/11/2024</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D8CEFA5A-C836-408A-8ED5-AE1804696402}"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243C5B46-2A9A-4740-BE99-13B4F4662728}" type="datetimeFigureOut">
              <a:rPr lang="en-IN" smtClean="0"/>
              <a:t>06/11/2024</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D8CEFA5A-C836-408A-8ED5-AE1804696402}" type="slidenum">
              <a:rPr lang="en-IN" smtClean="0"/>
              <a:t>‹#›</a:t>
            </a:fld>
            <a:endParaRPr lang="en-IN"/>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243C5B46-2A9A-4740-BE99-13B4F4662728}" type="datetimeFigureOut">
              <a:rPr lang="en-IN" smtClean="0"/>
              <a:t>06/11/2024</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D8CEFA5A-C836-408A-8ED5-AE180469640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243C5B46-2A9A-4740-BE99-13B4F4662728}" type="datetimeFigureOut">
              <a:rPr lang="en-IN" smtClean="0"/>
              <a:t>06/11/2024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D8CEFA5A-C836-408A-8ED5-AE1804696402}"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243C5B46-2A9A-4740-BE99-13B4F4662728}" type="datetimeFigureOut">
              <a:rPr lang="en-IN" smtClean="0"/>
              <a:t>06/11/2024</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D8CEFA5A-C836-408A-8ED5-AE1804696402}"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43C5B46-2A9A-4740-BE99-13B4F4662728}" type="datetimeFigureOut">
              <a:rPr lang="en-IN" smtClean="0"/>
              <a:t>06/11/2024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D8CEFA5A-C836-408A-8ED5-AE180469640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43C5B46-2A9A-4740-BE99-13B4F4662728}" type="datetimeFigureOut">
              <a:rPr lang="en-IN" smtClean="0"/>
              <a:t>06/11/2024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D8CEFA5A-C836-408A-8ED5-AE180469640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243C5B46-2A9A-4740-BE99-13B4F4662728}" type="datetimeFigureOut">
              <a:rPr lang="en-IN" smtClean="0"/>
              <a:t>06/11/2024</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D8CEFA5A-C836-408A-8ED5-AE180469640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4429" r:id="rId1"/>
    <p:sldLayoutId id="2147484430" r:id="rId2"/>
    <p:sldLayoutId id="2147484431" r:id="rId3"/>
    <p:sldLayoutId id="2147484432" r:id="rId4"/>
    <p:sldLayoutId id="2147484433" r:id="rId5"/>
    <p:sldLayoutId id="2147484434" r:id="rId6"/>
    <p:sldLayoutId id="2147484435" r:id="rId7"/>
    <p:sldLayoutId id="2147484436" r:id="rId8"/>
    <p:sldLayoutId id="2147484437" r:id="rId9"/>
    <p:sldLayoutId id="2147484438" r:id="rId10"/>
    <p:sldLayoutId id="214748443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512" y="188641"/>
            <a:ext cx="7704856" cy="3168352"/>
          </a:xfrm>
        </p:spPr>
        <p:txBody>
          <a:bodyPr>
            <a:normAutofit/>
          </a:bodyPr>
          <a:lstStyle/>
          <a:p>
            <a:pPr algn="l"/>
            <a:r>
              <a:rPr lang="en-US" sz="5400" b="1" dirty="0" smtClean="0">
                <a:solidFill>
                  <a:schemeClr val="tx1"/>
                </a:solidFill>
                <a:latin typeface="Times New Roman" pitchFamily="18" charset="0"/>
                <a:cs typeface="Times New Roman" pitchFamily="18" charset="0"/>
              </a:rPr>
              <a:t>Title</a:t>
            </a:r>
            <a:r>
              <a:rPr lang="en-US" sz="4400" dirty="0" smtClean="0">
                <a:solidFill>
                  <a:schemeClr val="tx1"/>
                </a:solidFill>
                <a:latin typeface="Times New Roman" pitchFamily="18" charset="0"/>
                <a:cs typeface="Times New Roman" pitchFamily="18" charset="0"/>
              </a:rPr>
              <a:t/>
            </a:r>
            <a:br>
              <a:rPr lang="en-US" sz="4400" dirty="0" smtClean="0">
                <a:solidFill>
                  <a:schemeClr val="tx1"/>
                </a:solidFill>
                <a:latin typeface="Times New Roman" pitchFamily="18" charset="0"/>
                <a:cs typeface="Times New Roman" pitchFamily="18" charset="0"/>
              </a:rPr>
            </a:br>
            <a:r>
              <a:rPr lang="en-US" sz="4400" dirty="0" smtClean="0">
                <a:solidFill>
                  <a:schemeClr val="tx1"/>
                </a:solidFill>
                <a:latin typeface="Times New Roman" pitchFamily="18" charset="0"/>
                <a:cs typeface="Times New Roman" pitchFamily="18" charset="0"/>
              </a:rPr>
              <a:t> "IOT-Based Industrial Plant Safety Gas Leakage System"</a:t>
            </a:r>
            <a:br>
              <a:rPr lang="en-US" sz="4400" dirty="0" smtClean="0">
                <a:solidFill>
                  <a:schemeClr val="tx1"/>
                </a:solidFill>
                <a:latin typeface="Times New Roman" pitchFamily="18" charset="0"/>
                <a:cs typeface="Times New Roman" pitchFamily="18" charset="0"/>
              </a:rPr>
            </a:br>
            <a:endParaRPr lang="en-IN" sz="4400" dirty="0">
              <a:solidFill>
                <a:schemeClr val="tx1"/>
              </a:solidFill>
              <a:latin typeface="Times New Roman" pitchFamily="18" charset="0"/>
              <a:cs typeface="Times New Roman" pitchFamily="18" charset="0"/>
            </a:endParaRPr>
          </a:p>
        </p:txBody>
      </p:sp>
      <p:sp>
        <p:nvSpPr>
          <p:cNvPr id="3" name="Subtitle 2"/>
          <p:cNvSpPr>
            <a:spLocks noGrp="1"/>
          </p:cNvSpPr>
          <p:nvPr>
            <p:ph type="subTitle" idx="1"/>
          </p:nvPr>
        </p:nvSpPr>
        <p:spPr>
          <a:xfrm>
            <a:off x="755576" y="3356992"/>
            <a:ext cx="7920880" cy="1800200"/>
          </a:xfrm>
        </p:spPr>
        <p:txBody>
          <a:bodyPr>
            <a:normAutofit fontScale="92500" lnSpcReduction="10000"/>
          </a:bodyPr>
          <a:lstStyle/>
          <a:p>
            <a:r>
              <a:rPr lang="en-US" sz="3200" dirty="0" smtClean="0">
                <a:solidFill>
                  <a:schemeClr val="tx1"/>
                </a:solidFill>
                <a:latin typeface="Times New Roman" pitchFamily="18" charset="0"/>
                <a:cs typeface="Times New Roman" pitchFamily="18" charset="0"/>
              </a:rPr>
              <a:t>Subtitle:-  Ensuring </a:t>
            </a:r>
            <a:r>
              <a:rPr lang="en-US" sz="3200" dirty="0">
                <a:solidFill>
                  <a:schemeClr val="tx1"/>
                </a:solidFill>
                <a:latin typeface="Times New Roman" pitchFamily="18" charset="0"/>
                <a:cs typeface="Times New Roman" pitchFamily="18" charset="0"/>
              </a:rPr>
              <a:t>safety in industrial environment </a:t>
            </a:r>
            <a:br>
              <a:rPr lang="en-US" sz="3200" dirty="0">
                <a:solidFill>
                  <a:schemeClr val="tx1"/>
                </a:solidFill>
                <a:latin typeface="Times New Roman" pitchFamily="18" charset="0"/>
                <a:cs typeface="Times New Roman" pitchFamily="18" charset="0"/>
              </a:rPr>
            </a:br>
            <a:endParaRPr lang="en-IN" sz="3200" dirty="0">
              <a:solidFill>
                <a:schemeClr val="tx1"/>
              </a:solidFill>
              <a:latin typeface="Times New Roman" pitchFamily="18" charset="0"/>
              <a:cs typeface="Times New Roman" pitchFamily="18" charset="0"/>
            </a:endParaRPr>
          </a:p>
          <a:p>
            <a:r>
              <a:rPr lang="en-US" b="1" dirty="0" smtClean="0">
                <a:solidFill>
                  <a:schemeClr val="bg1"/>
                </a:solidFill>
              </a:rPr>
              <a:t>Subtitle:</a:t>
            </a:r>
            <a:endParaRPr lang="en-IN" sz="8600" b="1"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727833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48681"/>
            <a:ext cx="7772400" cy="3168351"/>
          </a:xfrm>
        </p:spPr>
        <p:txBody>
          <a:bodyPr>
            <a:normAutofit fontScale="90000"/>
          </a:bodyPr>
          <a:lstStyle/>
          <a:p>
            <a:pPr algn="l"/>
            <a:r>
              <a:rPr lang="en-IN" b="1" dirty="0" smtClean="0">
                <a:latin typeface="Times New Roman" pitchFamily="18" charset="0"/>
                <a:cs typeface="Times New Roman" pitchFamily="18" charset="0"/>
              </a:rPr>
              <a:t>SUBMITTED BY</a:t>
            </a:r>
            <a:br>
              <a:rPr lang="en-IN" b="1" dirty="0" smtClean="0">
                <a:latin typeface="Times New Roman" pitchFamily="18" charset="0"/>
                <a:cs typeface="Times New Roman" pitchFamily="18" charset="0"/>
              </a:rPr>
            </a:br>
            <a:r>
              <a:rPr lang="en-IN" sz="3200" b="0" dirty="0" err="1" smtClean="0">
                <a:solidFill>
                  <a:schemeClr val="tx1"/>
                </a:solidFill>
                <a:latin typeface="Times New Roman" pitchFamily="18" charset="0"/>
                <a:cs typeface="Times New Roman" pitchFamily="18" charset="0"/>
              </a:rPr>
              <a:t>Akanksha</a:t>
            </a:r>
            <a:r>
              <a:rPr lang="en-IN" sz="3200" b="0" dirty="0" smtClean="0">
                <a:solidFill>
                  <a:schemeClr val="tx1"/>
                </a:solidFill>
                <a:latin typeface="Times New Roman" pitchFamily="18" charset="0"/>
                <a:cs typeface="Times New Roman" pitchFamily="18" charset="0"/>
              </a:rPr>
              <a:t> </a:t>
            </a:r>
            <a:r>
              <a:rPr lang="en-IN" sz="3200" b="0" dirty="0" err="1" smtClean="0">
                <a:solidFill>
                  <a:schemeClr val="tx1"/>
                </a:solidFill>
                <a:latin typeface="Times New Roman" pitchFamily="18" charset="0"/>
                <a:cs typeface="Times New Roman" pitchFamily="18" charset="0"/>
              </a:rPr>
              <a:t>Pathak</a:t>
            </a:r>
            <a:r>
              <a:rPr lang="en-IN" sz="3200" b="0" dirty="0" smtClean="0">
                <a:solidFill>
                  <a:schemeClr val="tx1"/>
                </a:solidFill>
                <a:latin typeface="Times New Roman" pitchFamily="18" charset="0"/>
                <a:cs typeface="Times New Roman" pitchFamily="18" charset="0"/>
              </a:rPr>
              <a:t/>
            </a:r>
            <a:br>
              <a:rPr lang="en-IN" sz="3200" b="0" dirty="0" smtClean="0">
                <a:solidFill>
                  <a:schemeClr val="tx1"/>
                </a:solidFill>
                <a:latin typeface="Times New Roman" pitchFamily="18" charset="0"/>
                <a:cs typeface="Times New Roman" pitchFamily="18" charset="0"/>
              </a:rPr>
            </a:br>
            <a:r>
              <a:rPr lang="en-IN" sz="3200" b="0" dirty="0" err="1" smtClean="0">
                <a:solidFill>
                  <a:schemeClr val="tx1"/>
                </a:solidFill>
                <a:latin typeface="Times New Roman" pitchFamily="18" charset="0"/>
                <a:cs typeface="Times New Roman" pitchFamily="18" charset="0"/>
              </a:rPr>
              <a:t>Kalyani</a:t>
            </a:r>
            <a:r>
              <a:rPr lang="en-IN" sz="3200" b="0" dirty="0" smtClean="0">
                <a:solidFill>
                  <a:schemeClr val="tx1"/>
                </a:solidFill>
                <a:latin typeface="Times New Roman" pitchFamily="18" charset="0"/>
                <a:cs typeface="Times New Roman" pitchFamily="18" charset="0"/>
              </a:rPr>
              <a:t> </a:t>
            </a:r>
            <a:r>
              <a:rPr lang="en-IN" sz="3200" b="0" dirty="0" err="1" smtClean="0">
                <a:solidFill>
                  <a:schemeClr val="tx1"/>
                </a:solidFill>
                <a:latin typeface="Times New Roman" pitchFamily="18" charset="0"/>
                <a:cs typeface="Times New Roman" pitchFamily="18" charset="0"/>
              </a:rPr>
              <a:t>Gadade</a:t>
            </a:r>
            <a:r>
              <a:rPr lang="en-IN" sz="3200" b="0" dirty="0" smtClean="0">
                <a:solidFill>
                  <a:schemeClr val="tx1"/>
                </a:solidFill>
                <a:latin typeface="Times New Roman" pitchFamily="18" charset="0"/>
                <a:cs typeface="Times New Roman" pitchFamily="18" charset="0"/>
              </a:rPr>
              <a:t/>
            </a:r>
            <a:br>
              <a:rPr lang="en-IN" sz="3200" b="0" dirty="0" smtClean="0">
                <a:solidFill>
                  <a:schemeClr val="tx1"/>
                </a:solidFill>
                <a:latin typeface="Times New Roman" pitchFamily="18" charset="0"/>
                <a:cs typeface="Times New Roman" pitchFamily="18" charset="0"/>
              </a:rPr>
            </a:br>
            <a:r>
              <a:rPr lang="en-IN" sz="3200" b="0" dirty="0" err="1" smtClean="0">
                <a:solidFill>
                  <a:schemeClr val="tx1"/>
                </a:solidFill>
                <a:latin typeface="Times New Roman" pitchFamily="18" charset="0"/>
                <a:cs typeface="Times New Roman" pitchFamily="18" charset="0"/>
              </a:rPr>
              <a:t>Shruti</a:t>
            </a:r>
            <a:r>
              <a:rPr lang="en-IN" sz="3200" b="0" dirty="0" smtClean="0">
                <a:solidFill>
                  <a:schemeClr val="tx1"/>
                </a:solidFill>
                <a:latin typeface="Times New Roman" pitchFamily="18" charset="0"/>
                <a:cs typeface="Times New Roman" pitchFamily="18" charset="0"/>
              </a:rPr>
              <a:t> </a:t>
            </a:r>
            <a:r>
              <a:rPr lang="en-IN" sz="3200" b="0" dirty="0" err="1" smtClean="0">
                <a:solidFill>
                  <a:schemeClr val="tx1"/>
                </a:solidFill>
                <a:latin typeface="Times New Roman" pitchFamily="18" charset="0"/>
                <a:cs typeface="Times New Roman" pitchFamily="18" charset="0"/>
              </a:rPr>
              <a:t>Nimbalkar</a:t>
            </a:r>
            <a:r>
              <a:rPr lang="en-IN" sz="3200" b="0" dirty="0" smtClean="0">
                <a:solidFill>
                  <a:schemeClr val="tx1"/>
                </a:solidFill>
                <a:latin typeface="Times New Roman" pitchFamily="18" charset="0"/>
                <a:cs typeface="Times New Roman" pitchFamily="18" charset="0"/>
              </a:rPr>
              <a:t/>
            </a:r>
            <a:br>
              <a:rPr lang="en-IN" sz="3200" b="0" dirty="0" smtClean="0">
                <a:solidFill>
                  <a:schemeClr val="tx1"/>
                </a:solidFill>
                <a:latin typeface="Times New Roman" pitchFamily="18" charset="0"/>
                <a:cs typeface="Times New Roman" pitchFamily="18" charset="0"/>
              </a:rPr>
            </a:br>
            <a:r>
              <a:rPr lang="en-IN" sz="3200" b="0" dirty="0" err="1" smtClean="0">
                <a:solidFill>
                  <a:schemeClr val="tx1"/>
                </a:solidFill>
                <a:latin typeface="Times New Roman" pitchFamily="18" charset="0"/>
                <a:cs typeface="Times New Roman" pitchFamily="18" charset="0"/>
              </a:rPr>
              <a:t>Srushti</a:t>
            </a:r>
            <a:r>
              <a:rPr lang="en-IN" sz="3200" b="0" dirty="0" smtClean="0">
                <a:solidFill>
                  <a:schemeClr val="tx1"/>
                </a:solidFill>
                <a:latin typeface="Times New Roman" pitchFamily="18" charset="0"/>
                <a:cs typeface="Times New Roman" pitchFamily="18" charset="0"/>
              </a:rPr>
              <a:t> </a:t>
            </a:r>
            <a:r>
              <a:rPr lang="en-IN" sz="3200" b="0" dirty="0" err="1" smtClean="0">
                <a:solidFill>
                  <a:schemeClr val="tx1"/>
                </a:solidFill>
                <a:latin typeface="Times New Roman" pitchFamily="18" charset="0"/>
                <a:cs typeface="Times New Roman" pitchFamily="18" charset="0"/>
              </a:rPr>
              <a:t>Suryawanshi</a:t>
            </a:r>
            <a:r>
              <a:rPr lang="en-IN" sz="3200" b="0" dirty="0" smtClean="0">
                <a:solidFill>
                  <a:schemeClr val="tx1"/>
                </a:solidFill>
                <a:latin typeface="Times New Roman" pitchFamily="18" charset="0"/>
                <a:cs typeface="Times New Roman" pitchFamily="18" charset="0"/>
              </a:rPr>
              <a:t/>
            </a:r>
            <a:br>
              <a:rPr lang="en-IN" sz="3200" b="0" dirty="0" smtClean="0">
                <a:solidFill>
                  <a:schemeClr val="tx1"/>
                </a:solidFill>
                <a:latin typeface="Times New Roman" pitchFamily="18" charset="0"/>
                <a:cs typeface="Times New Roman" pitchFamily="18" charset="0"/>
              </a:rPr>
            </a:br>
            <a:endParaRPr lang="en-IN" b="0" dirty="0">
              <a:latin typeface="Times New Roman" pitchFamily="18" charset="0"/>
              <a:cs typeface="Times New Roman" pitchFamily="18" charset="0"/>
            </a:endParaRPr>
          </a:p>
        </p:txBody>
      </p:sp>
      <p:sp>
        <p:nvSpPr>
          <p:cNvPr id="3" name="Subtitle 2"/>
          <p:cNvSpPr>
            <a:spLocks noGrp="1"/>
          </p:cNvSpPr>
          <p:nvPr>
            <p:ph type="subTitle" idx="1"/>
          </p:nvPr>
        </p:nvSpPr>
        <p:spPr>
          <a:xfrm>
            <a:off x="1371600" y="3789040"/>
            <a:ext cx="6400800" cy="1849760"/>
          </a:xfrm>
        </p:spPr>
        <p:txBody>
          <a:bodyPr>
            <a:normAutofit/>
          </a:bodyPr>
          <a:lstStyle/>
          <a:p>
            <a:r>
              <a:rPr lang="en-IN" sz="2800" dirty="0" smtClean="0">
                <a:solidFill>
                  <a:schemeClr val="tx1"/>
                </a:solidFill>
                <a:latin typeface="Times New Roman" pitchFamily="18" charset="0"/>
                <a:cs typeface="Times New Roman" pitchFamily="18" charset="0"/>
              </a:rPr>
              <a:t>UNDER GUIDANCE BY</a:t>
            </a:r>
          </a:p>
          <a:p>
            <a:r>
              <a:rPr lang="en-IN" sz="2800" dirty="0" err="1" smtClean="0">
                <a:solidFill>
                  <a:schemeClr val="tx1"/>
                </a:solidFill>
                <a:latin typeface="Times New Roman" pitchFamily="18" charset="0"/>
                <a:cs typeface="Times New Roman" pitchFamily="18" charset="0"/>
              </a:rPr>
              <a:t>Prof.</a:t>
            </a:r>
            <a:r>
              <a:rPr lang="en-IN" sz="2800" dirty="0" smtClean="0">
                <a:solidFill>
                  <a:schemeClr val="tx1"/>
                </a:solidFill>
                <a:latin typeface="Times New Roman" pitchFamily="18" charset="0"/>
                <a:cs typeface="Times New Roman" pitchFamily="18" charset="0"/>
              </a:rPr>
              <a:t> V.B. </a:t>
            </a:r>
            <a:r>
              <a:rPr lang="en-IN" sz="2800" dirty="0" err="1" smtClean="0">
                <a:solidFill>
                  <a:schemeClr val="tx1"/>
                </a:solidFill>
                <a:latin typeface="Times New Roman" pitchFamily="18" charset="0"/>
                <a:cs typeface="Times New Roman" pitchFamily="18" charset="0"/>
              </a:rPr>
              <a:t>Bhambure</a:t>
            </a:r>
            <a:r>
              <a:rPr lang="en-IN" sz="2800" dirty="0" smtClean="0">
                <a:solidFill>
                  <a:schemeClr val="tx1"/>
                </a:solidFill>
                <a:latin typeface="Times New Roman" pitchFamily="18" charset="0"/>
                <a:cs typeface="Times New Roman" pitchFamily="18" charset="0"/>
              </a:rPr>
              <a:t>.</a:t>
            </a:r>
          </a:p>
          <a:p>
            <a:endParaRPr lang="en-IN" sz="2800" dirty="0">
              <a:solidFill>
                <a:schemeClr val="tx1"/>
              </a:solidFill>
            </a:endParaRPr>
          </a:p>
        </p:txBody>
      </p:sp>
    </p:spTree>
    <p:extLst>
      <p:ext uri="{BB962C8B-B14F-4D97-AF65-F5344CB8AC3E}">
        <p14:creationId xmlns:p14="http://schemas.microsoft.com/office/powerpoint/2010/main" val="322724460"/>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itchFamily="18" charset="0"/>
                <a:cs typeface="Times New Roman" pitchFamily="18" charset="0"/>
              </a:rPr>
              <a:t>Content</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q"/>
            </a:pPr>
            <a:r>
              <a:rPr lang="en-US" sz="2400" dirty="0" smtClean="0">
                <a:latin typeface="Times New Roman" pitchFamily="18" charset="0"/>
                <a:cs typeface="Times New Roman" pitchFamily="18" charset="0"/>
              </a:rPr>
              <a:t> Abstract</a:t>
            </a:r>
            <a:endParaRPr lang="en-US" sz="2400" dirty="0">
              <a:latin typeface="Times New Roman" pitchFamily="18" charset="0"/>
              <a:cs typeface="Times New Roman" pitchFamily="18" charset="0"/>
            </a:endParaRPr>
          </a:p>
          <a:p>
            <a:pPr>
              <a:buFont typeface="Wingdings" pitchFamily="2" charset="2"/>
              <a:buChar char="q"/>
            </a:pPr>
            <a:r>
              <a:rPr lang="en-US" sz="2400" dirty="0">
                <a:latin typeface="Times New Roman" pitchFamily="18" charset="0"/>
                <a:cs typeface="Times New Roman" pitchFamily="18" charset="0"/>
              </a:rPr>
              <a:t>  Introduction</a:t>
            </a:r>
          </a:p>
          <a:p>
            <a:pPr>
              <a:buFont typeface="Wingdings" pitchFamily="2" charset="2"/>
              <a:buChar char="q"/>
            </a:pPr>
            <a:r>
              <a:rPr lang="en-US" sz="2400" dirty="0">
                <a:latin typeface="Times New Roman" pitchFamily="18" charset="0"/>
                <a:cs typeface="Times New Roman" pitchFamily="18" charset="0"/>
              </a:rPr>
              <a:t>  Motivation</a:t>
            </a:r>
          </a:p>
          <a:p>
            <a:pPr>
              <a:buFont typeface="Wingdings" pitchFamily="2" charset="2"/>
              <a:buChar char="q"/>
            </a:pPr>
            <a:r>
              <a:rPr lang="en-US" sz="2400" dirty="0">
                <a:latin typeface="Times New Roman" pitchFamily="18" charset="0"/>
                <a:cs typeface="Times New Roman" pitchFamily="18" charset="0"/>
              </a:rPr>
              <a:t>  Objective</a:t>
            </a:r>
          </a:p>
          <a:p>
            <a:pPr>
              <a:buFont typeface="Wingdings" pitchFamily="2" charset="2"/>
              <a:buChar char="q"/>
            </a:pPr>
            <a:r>
              <a:rPr lang="en-US" sz="2400" dirty="0">
                <a:latin typeface="Times New Roman" pitchFamily="18" charset="0"/>
                <a:cs typeface="Times New Roman" pitchFamily="18" charset="0"/>
              </a:rPr>
              <a:t>  Literature Survey</a:t>
            </a:r>
          </a:p>
          <a:p>
            <a:pPr>
              <a:buFont typeface="Wingdings" pitchFamily="2" charset="2"/>
              <a:buChar char="q"/>
            </a:pPr>
            <a:r>
              <a:rPr lang="en-US" sz="2400" dirty="0">
                <a:latin typeface="Times New Roman" pitchFamily="18" charset="0"/>
                <a:cs typeface="Times New Roman" pitchFamily="18" charset="0"/>
              </a:rPr>
              <a:t>  Problem Statement</a:t>
            </a:r>
          </a:p>
          <a:p>
            <a:pPr>
              <a:buFont typeface="Wingdings" pitchFamily="2" charset="2"/>
              <a:buChar char="q"/>
            </a:pPr>
            <a:r>
              <a:rPr lang="en-US" sz="2400" dirty="0">
                <a:latin typeface="Times New Roman" pitchFamily="18" charset="0"/>
                <a:cs typeface="Times New Roman" pitchFamily="18" charset="0"/>
              </a:rPr>
              <a:t>  Block Diagram </a:t>
            </a:r>
          </a:p>
          <a:p>
            <a:pPr>
              <a:buFont typeface="Wingdings" pitchFamily="2" charset="2"/>
              <a:buChar char="q"/>
            </a:pPr>
            <a:r>
              <a:rPr lang="en-US" sz="2400" dirty="0">
                <a:latin typeface="Times New Roman" pitchFamily="18" charset="0"/>
                <a:cs typeface="Times New Roman" pitchFamily="18" charset="0"/>
              </a:rPr>
              <a:t>  Hardware &amp; Software Requirement</a:t>
            </a:r>
          </a:p>
          <a:p>
            <a:pPr>
              <a:buFont typeface="Wingdings" pitchFamily="2" charset="2"/>
              <a:buChar char="q"/>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Action plan</a:t>
            </a:r>
            <a:endParaRPr lang="en-US" sz="2400" dirty="0">
              <a:latin typeface="Times New Roman" pitchFamily="18" charset="0"/>
              <a:cs typeface="Times New Roman" pitchFamily="18" charset="0"/>
            </a:endParaRPr>
          </a:p>
          <a:p>
            <a:pPr>
              <a:buFont typeface="Wingdings" pitchFamily="2" charset="2"/>
              <a:buChar char="q"/>
            </a:pPr>
            <a:r>
              <a:rPr lang="en-US" sz="2400" dirty="0">
                <a:latin typeface="Times New Roman" pitchFamily="18" charset="0"/>
                <a:cs typeface="Times New Roman" pitchFamily="18" charset="0"/>
              </a:rPr>
              <a:t>  Future Scope</a:t>
            </a:r>
          </a:p>
          <a:p>
            <a:pPr>
              <a:buFont typeface="Wingdings" pitchFamily="2" charset="2"/>
              <a:buChar char="q"/>
            </a:pPr>
            <a:r>
              <a:rPr lang="en-US" sz="2400" dirty="0">
                <a:latin typeface="Times New Roman" pitchFamily="18" charset="0"/>
                <a:cs typeface="Times New Roman" pitchFamily="18" charset="0"/>
              </a:rPr>
              <a:t>  Conclusion</a:t>
            </a:r>
          </a:p>
          <a:p>
            <a:pPr>
              <a:buFont typeface="Wingdings" pitchFamily="2" charset="2"/>
              <a:buChar char="q"/>
            </a:pPr>
            <a:r>
              <a:rPr lang="en-US" sz="2400" dirty="0">
                <a:latin typeface="Times New Roman" pitchFamily="18" charset="0"/>
                <a:cs typeface="Times New Roman" pitchFamily="18" charset="0"/>
              </a:rPr>
              <a:t>  References</a:t>
            </a:r>
          </a:p>
          <a:p>
            <a:pPr marL="109728" indent="0">
              <a:buNone/>
            </a:pPr>
            <a:endParaRPr lang="en-IN" dirty="0"/>
          </a:p>
        </p:txBody>
      </p:sp>
    </p:spTree>
    <p:extLst>
      <p:ext uri="{BB962C8B-B14F-4D97-AF65-F5344CB8AC3E}">
        <p14:creationId xmlns:p14="http://schemas.microsoft.com/office/powerpoint/2010/main" val="531998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260350"/>
            <a:ext cx="7772400" cy="936625"/>
          </a:xfrm>
        </p:spPr>
        <p:txBody>
          <a:bodyPr/>
          <a:lstStyle/>
          <a:p>
            <a:pPr algn="l"/>
            <a:r>
              <a:rPr lang="en-IN" dirty="0" smtClean="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
        <p:nvSpPr>
          <p:cNvPr id="3" name="Subtitle 2"/>
          <p:cNvSpPr>
            <a:spLocks noGrp="1"/>
          </p:cNvSpPr>
          <p:nvPr>
            <p:ph type="subTitle" idx="4294967295"/>
          </p:nvPr>
        </p:nvSpPr>
        <p:spPr>
          <a:xfrm>
            <a:off x="179512" y="0"/>
            <a:ext cx="8748464" cy="6525344"/>
          </a:xfrm>
        </p:spPr>
        <p:txBody>
          <a:bodyPr>
            <a:noAutofit/>
          </a:bodyPr>
          <a:lstStyle/>
          <a:p>
            <a:pPr marL="109728" indent="0">
              <a:buNone/>
            </a:pPr>
            <a:r>
              <a:rPr lang="en-IN" sz="4000" dirty="0">
                <a:latin typeface="Times New Roman" pitchFamily="18" charset="0"/>
                <a:cs typeface="Times New Roman" pitchFamily="18" charset="0"/>
              </a:rPr>
              <a:t>Abstract</a:t>
            </a:r>
            <a:endParaRPr lang="en-US" sz="2000" b="1" dirty="0" smtClean="0">
              <a:solidFill>
                <a:schemeClr val="tx1"/>
              </a:solidFill>
              <a:latin typeface="Times New Roman" pitchFamily="18" charset="0"/>
              <a:cs typeface="Times New Roman" pitchFamily="18" charset="0"/>
            </a:endParaRPr>
          </a:p>
          <a:p>
            <a:pPr algn="just">
              <a:buFont typeface="Wingdings" pitchFamily="2" charset="2"/>
              <a:buChar char="q"/>
            </a:pPr>
            <a:r>
              <a:rPr lang="en-US" sz="2000" b="1" dirty="0" smtClean="0">
                <a:solidFill>
                  <a:schemeClr val="tx1"/>
                </a:solidFill>
                <a:latin typeface="Times New Roman" pitchFamily="18" charset="0"/>
                <a:cs typeface="Times New Roman" pitchFamily="18" charset="0"/>
              </a:rPr>
              <a:t>Most of </a:t>
            </a:r>
            <a:r>
              <a:rPr lang="en-US" sz="2000" b="1" dirty="0">
                <a:solidFill>
                  <a:schemeClr val="tx1"/>
                </a:solidFill>
                <a:latin typeface="Times New Roman" pitchFamily="18" charset="0"/>
                <a:cs typeface="Times New Roman" pitchFamily="18" charset="0"/>
              </a:rPr>
              <a:t>the fire-breakouts in industries are due to gas leaks. These cause dreadful damage to the equipment, human life leading to injuries, deaths, and environment. Currently available leakage detectors warn the people around using on-site alarms. So, this project proposes a leakage detector which sends the warning to the concerned people through SMS . This detector senses the presence of harmful gases particularly, LPG, Methane and Benzene. </a:t>
            </a:r>
            <a:endParaRPr lang="en-US" sz="2000" b="1" dirty="0" smtClean="0">
              <a:solidFill>
                <a:schemeClr val="tx1"/>
              </a:solidFill>
              <a:latin typeface="Times New Roman" pitchFamily="18" charset="0"/>
              <a:cs typeface="Times New Roman" pitchFamily="18" charset="0"/>
            </a:endParaRPr>
          </a:p>
          <a:p>
            <a:pPr algn="just">
              <a:buFont typeface="Wingdings" pitchFamily="2" charset="2"/>
              <a:buChar char="q"/>
            </a:pPr>
            <a:r>
              <a:rPr lang="en-US" sz="2000" b="1" dirty="0" smtClean="0">
                <a:solidFill>
                  <a:schemeClr val="tx1"/>
                </a:solidFill>
                <a:latin typeface="Times New Roman" pitchFamily="18" charset="0"/>
                <a:cs typeface="Times New Roman" pitchFamily="18" charset="0"/>
              </a:rPr>
              <a:t>LPG </a:t>
            </a:r>
            <a:r>
              <a:rPr lang="en-US" sz="2000" b="1" dirty="0">
                <a:solidFill>
                  <a:schemeClr val="tx1"/>
                </a:solidFill>
                <a:latin typeface="Times New Roman" pitchFamily="18" charset="0"/>
                <a:cs typeface="Times New Roman" pitchFamily="18" charset="0"/>
              </a:rPr>
              <a:t>and Methane gases catch fire easily resulting in blasts. Benzene is carcinogen effecting the health of workers, if inhaled in higher concentrations. Hence, detection of these gases is essential. This low cost project includes MQ6, MQ4 and MQ135 gas sensors which detect LPG, Methane and Benzene gas </a:t>
            </a:r>
            <a:r>
              <a:rPr lang="en-US" sz="2000" b="1" dirty="0" smtClean="0">
                <a:solidFill>
                  <a:schemeClr val="tx1"/>
                </a:solidFill>
                <a:latin typeface="Times New Roman" pitchFamily="18" charset="0"/>
                <a:cs typeface="Times New Roman" pitchFamily="18" charset="0"/>
              </a:rPr>
              <a:t>leaks </a:t>
            </a:r>
            <a:r>
              <a:rPr lang="en-US" sz="2000" b="1" dirty="0" err="1" smtClean="0">
                <a:solidFill>
                  <a:schemeClr val="tx1"/>
                </a:solidFill>
                <a:latin typeface="Times New Roman" pitchFamily="18" charset="0"/>
                <a:cs typeface="Times New Roman" pitchFamily="18" charset="0"/>
              </a:rPr>
              <a:t>respectively.The</a:t>
            </a:r>
            <a:r>
              <a:rPr lang="en-US" sz="2000" b="1" dirty="0" smtClean="0">
                <a:solidFill>
                  <a:schemeClr val="tx1"/>
                </a:solidFill>
                <a:latin typeface="Times New Roman" pitchFamily="18" charset="0"/>
                <a:cs typeface="Times New Roman" pitchFamily="18" charset="0"/>
              </a:rPr>
              <a:t> </a:t>
            </a:r>
            <a:r>
              <a:rPr lang="en-US" sz="2000" b="1" dirty="0">
                <a:solidFill>
                  <a:schemeClr val="tx1"/>
                </a:solidFill>
                <a:latin typeface="Times New Roman" pitchFamily="18" charset="0"/>
                <a:cs typeface="Times New Roman" pitchFamily="18" charset="0"/>
              </a:rPr>
              <a:t>concentration levels of the above mentioned gases are uploaded  in the cloud . </a:t>
            </a:r>
            <a:endParaRPr lang="en-US" sz="2000" b="1" dirty="0" smtClean="0">
              <a:solidFill>
                <a:schemeClr val="tx1"/>
              </a:solidFill>
              <a:latin typeface="Times New Roman" pitchFamily="18" charset="0"/>
              <a:cs typeface="Times New Roman" pitchFamily="18" charset="0"/>
            </a:endParaRPr>
          </a:p>
          <a:p>
            <a:pPr algn="just">
              <a:buFont typeface="Wingdings" pitchFamily="2" charset="2"/>
              <a:buChar char="q"/>
            </a:pPr>
            <a:r>
              <a:rPr lang="en-US" sz="2000" b="1" dirty="0" smtClean="0">
                <a:solidFill>
                  <a:schemeClr val="tx1"/>
                </a:solidFill>
                <a:latin typeface="Times New Roman" pitchFamily="18" charset="0"/>
                <a:cs typeface="Times New Roman" pitchFamily="18" charset="0"/>
              </a:rPr>
              <a:t>The </a:t>
            </a:r>
            <a:r>
              <a:rPr lang="en-US" sz="2000" b="1" dirty="0">
                <a:solidFill>
                  <a:schemeClr val="tx1"/>
                </a:solidFill>
                <a:latin typeface="Times New Roman" pitchFamily="18" charset="0"/>
                <a:cs typeface="Times New Roman" pitchFamily="18" charset="0"/>
              </a:rPr>
              <a:t>prototype of the proposed system generates a sound alert using buzzer on detection of a dangerous leakage and sends an SMS to the concerned person using IFTTT web service. Different color LEDS are used to specify the gas leaked for example, RED LED indicates the presence of LPG.</a:t>
            </a:r>
            <a:endParaRPr lang="en-IN" sz="2000" dirty="0">
              <a:solidFill>
                <a:schemeClr val="tx1"/>
              </a:solidFill>
              <a:latin typeface="Times New Roman" pitchFamily="18" charset="0"/>
              <a:cs typeface="Times New Roman" pitchFamily="18" charset="0"/>
            </a:endParaRPr>
          </a:p>
          <a:p>
            <a:pPr algn="l"/>
            <a:endParaRPr lang="en-IN"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19941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556792"/>
            <a:ext cx="8640960" cy="4752528"/>
          </a:xfrm>
        </p:spPr>
        <p:txBody>
          <a:bodyPr>
            <a:noAutofit/>
          </a:bodyPr>
          <a:lstStyle/>
          <a:p>
            <a:pPr algn="just">
              <a:buFont typeface="Wingdings" pitchFamily="2" charset="2"/>
              <a:buChar char="q"/>
            </a:pPr>
            <a:r>
              <a:rPr lang="en-US" sz="2000" dirty="0">
                <a:latin typeface="Times New Roman" pitchFamily="18" charset="0"/>
                <a:cs typeface="Times New Roman" pitchFamily="18" charset="0"/>
              </a:rPr>
              <a:t>The number of gas leaks that happen every year on industrial plants is obscure. </a:t>
            </a:r>
          </a:p>
          <a:p>
            <a:pPr marL="109728" indent="0" algn="just">
              <a:buNone/>
            </a:pPr>
            <a:r>
              <a:rPr lang="en-US" sz="2000" dirty="0">
                <a:latin typeface="Times New Roman" pitchFamily="18" charset="0"/>
                <a:cs typeface="Times New Roman" pitchFamily="18" charset="0"/>
              </a:rPr>
              <a:t>The majority of these leakages, regardless of whether recognized, go unreported when they do not straightforwardly prompt tangible mishaps. Environmental </a:t>
            </a:r>
          </a:p>
          <a:p>
            <a:pPr marL="109728" indent="0" algn="just">
              <a:buNone/>
            </a:pPr>
            <a:r>
              <a:rPr lang="en-US" sz="2000" dirty="0">
                <a:latin typeface="Times New Roman" pitchFamily="18" charset="0"/>
                <a:cs typeface="Times New Roman" pitchFamily="18" charset="0"/>
              </a:rPr>
              <a:t>Protection Agency (EPA) reports evaluate that in the United States alone, these</a:t>
            </a:r>
          </a:p>
          <a:p>
            <a:pPr marL="109728" indent="0" algn="just">
              <a:buNone/>
            </a:pPr>
            <a:r>
              <a:rPr lang="en-US" sz="2000" dirty="0">
                <a:latin typeface="Times New Roman" pitchFamily="18" charset="0"/>
                <a:cs typeface="Times New Roman" pitchFamily="18" charset="0"/>
              </a:rPr>
              <a:t> plants discharge close to one billion cubic meters of methane (not taking some </a:t>
            </a:r>
          </a:p>
          <a:p>
            <a:pPr marL="109728" indent="0" algn="just">
              <a:buNone/>
            </a:pPr>
            <a:r>
              <a:rPr lang="en-US" sz="2000" dirty="0">
                <a:latin typeface="Times New Roman" pitchFamily="18" charset="0"/>
                <a:cs typeface="Times New Roman" pitchFamily="18" charset="0"/>
              </a:rPr>
              <a:t>other gas into account).</a:t>
            </a:r>
          </a:p>
          <a:p>
            <a:pPr algn="just">
              <a:buFont typeface="Wingdings" pitchFamily="2" charset="2"/>
              <a:buChar char="q"/>
            </a:pP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majority of these misfortunes (around 80%) appear to originate </a:t>
            </a:r>
            <a:r>
              <a:rPr lang="en-US" sz="2000" dirty="0" smtClean="0">
                <a:latin typeface="Times New Roman" pitchFamily="18" charset="0"/>
                <a:cs typeface="Times New Roman" pitchFamily="18" charset="0"/>
              </a:rPr>
              <a:t>from flawed </a:t>
            </a:r>
            <a:r>
              <a:rPr lang="en-US" sz="2000" dirty="0">
                <a:latin typeface="Times New Roman" pitchFamily="18" charset="0"/>
                <a:cs typeface="Times New Roman" pitchFamily="18" charset="0"/>
              </a:rPr>
              <a:t>compressors, valves, seals, and connectors. In 2012, around 2200 million metric tons of CO2 were inadvertently discharged from oil </a:t>
            </a:r>
            <a:r>
              <a:rPr lang="en-US" sz="2000" dirty="0" smtClean="0">
                <a:latin typeface="Times New Roman" pitchFamily="18" charset="0"/>
                <a:cs typeface="Times New Roman" pitchFamily="18" charset="0"/>
              </a:rPr>
              <a:t>frameworks </a:t>
            </a:r>
            <a:r>
              <a:rPr lang="en-US" sz="2000" dirty="0">
                <a:latin typeface="Times New Roman" pitchFamily="18" charset="0"/>
                <a:cs typeface="Times New Roman" pitchFamily="18" charset="0"/>
              </a:rPr>
              <a:t>and other synthetic procedures vital for the creation of iron, bond, </a:t>
            </a:r>
            <a:r>
              <a:rPr lang="en-US" sz="2000" dirty="0" smtClean="0">
                <a:latin typeface="Times New Roman" pitchFamily="18" charset="0"/>
                <a:cs typeface="Times New Roman" pitchFamily="18" charset="0"/>
              </a:rPr>
              <a:t>plastics </a:t>
            </a:r>
            <a:r>
              <a:rPr lang="en-US" sz="2000" dirty="0">
                <a:latin typeface="Times New Roman" pitchFamily="18" charset="0"/>
                <a:cs typeface="Times New Roman" pitchFamily="18" charset="0"/>
              </a:rPr>
              <a:t>and steel. </a:t>
            </a:r>
          </a:p>
          <a:p>
            <a:pPr marL="0" indent="0" algn="just">
              <a:buNone/>
            </a:pPr>
            <a:endParaRPr lang="en-IN" sz="2000" b="1" dirty="0">
              <a:latin typeface="Times New Roman" pitchFamily="18" charset="0"/>
              <a:cs typeface="Times New Roman" pitchFamily="18" charset="0"/>
            </a:endParaRPr>
          </a:p>
        </p:txBody>
      </p:sp>
      <p:sp>
        <p:nvSpPr>
          <p:cNvPr id="7" name="Title 6"/>
          <p:cNvSpPr>
            <a:spLocks noGrp="1"/>
          </p:cNvSpPr>
          <p:nvPr>
            <p:ph type="title"/>
          </p:nvPr>
        </p:nvSpPr>
        <p:spPr/>
        <p:txBody>
          <a:bodyPr/>
          <a:lstStyle/>
          <a:p>
            <a:r>
              <a:rPr lang="en-IN" dirty="0" smtClean="0">
                <a:solidFill>
                  <a:schemeClr val="tx1"/>
                </a:solidFill>
                <a:effectLst/>
              </a:rPr>
              <a:t>  </a:t>
            </a:r>
            <a:r>
              <a:rPr lang="en-IN" sz="4800" dirty="0" smtClean="0">
                <a:solidFill>
                  <a:schemeClr val="tx1"/>
                </a:solidFill>
                <a:effectLst/>
                <a:latin typeface="Times New Roman" pitchFamily="18" charset="0"/>
                <a:cs typeface="Times New Roman" pitchFamily="18" charset="0"/>
              </a:rPr>
              <a:t>Introduction</a:t>
            </a:r>
            <a:endParaRPr lang="en-IN" dirty="0">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666847039"/>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3050"/>
            <a:ext cx="8229600" cy="1643782"/>
          </a:xfrm>
          <a:noFill/>
        </p:spPr>
        <p:txBody>
          <a:bodyPr>
            <a:normAutofit/>
          </a:bodyPr>
          <a:lstStyle/>
          <a:p>
            <a:r>
              <a:rPr lang="en-IN" sz="4800" dirty="0" smtClean="0">
                <a:effectLst/>
                <a:latin typeface="Times New Roman" pitchFamily="18" charset="0"/>
                <a:cs typeface="Times New Roman" pitchFamily="18" charset="0"/>
              </a:rPr>
              <a:t>Motivation</a:t>
            </a:r>
            <a:endParaRPr lang="en-IN" dirty="0">
              <a:effectLst/>
              <a:latin typeface="Times New Roman" pitchFamily="18" charset="0"/>
              <a:cs typeface="Times New Roman" pitchFamily="18" charset="0"/>
            </a:endParaRPr>
          </a:p>
        </p:txBody>
      </p:sp>
      <p:sp>
        <p:nvSpPr>
          <p:cNvPr id="10" name="Subtitle 9"/>
          <p:cNvSpPr>
            <a:spLocks noGrp="1"/>
          </p:cNvSpPr>
          <p:nvPr>
            <p:ph sz="quarter" idx="4294967295"/>
          </p:nvPr>
        </p:nvSpPr>
        <p:spPr>
          <a:xfrm>
            <a:off x="323528" y="1412776"/>
            <a:ext cx="8172400" cy="4248472"/>
          </a:xfrm>
          <a:noFill/>
        </p:spPr>
        <p:txBody>
          <a:bodyPr>
            <a:normAutofit/>
          </a:bodyPr>
          <a:lstStyle/>
          <a:p>
            <a:pPr marL="0" indent="0">
              <a:buNone/>
            </a:pPr>
            <a:endParaRPr lang="en-IN" sz="3600" b="1" dirty="0" smtClean="0"/>
          </a:p>
          <a:p>
            <a:pPr marL="0" indent="0">
              <a:buNone/>
            </a:pPr>
            <a:r>
              <a:rPr lang="en-US" sz="2800" dirty="0" smtClean="0">
                <a:solidFill>
                  <a:sysClr val="windowText" lastClr="000000"/>
                </a:solidFill>
                <a:latin typeface="Times New Roman" pitchFamily="18" charset="0"/>
                <a:cs typeface="Times New Roman" pitchFamily="18" charset="0"/>
              </a:rPr>
              <a:t>This detector senses the presence of harmful gases particularly, LPG, Methane and Benzene. LPG and Methane gases catch fire easily resulting in blasts. Benzene is carcinogen effecting the health of workers, if inhaled in higher concentrations. Hence, detection of these gases is essential.</a:t>
            </a:r>
            <a:endParaRPr lang="en-IN" sz="2800" dirty="0" smtClean="0">
              <a:solidFill>
                <a:sysClr val="windowText" lastClr="000000"/>
              </a:solidFill>
              <a:latin typeface="Times New Roman" pitchFamily="18" charset="0"/>
              <a:cs typeface="Times New Roman" pitchFamily="18" charset="0"/>
            </a:endParaRPr>
          </a:p>
          <a:p>
            <a:pPr marL="457200" indent="-457200">
              <a:buFont typeface="Arial" pitchFamily="34" charset="0"/>
              <a:buChar char="•"/>
            </a:pPr>
            <a:endParaRPr lang="en-IN" dirty="0" smtClean="0"/>
          </a:p>
          <a:p>
            <a:pPr marL="457200" indent="-457200">
              <a:buFont typeface="Arial" pitchFamily="34" charset="0"/>
              <a:buChar char="•"/>
            </a:pPr>
            <a:endParaRPr lang="en-IN" dirty="0" smtClean="0"/>
          </a:p>
          <a:p>
            <a:pPr marL="457200" indent="-457200">
              <a:buFont typeface="Arial" pitchFamily="34" charset="0"/>
              <a:buChar char="•"/>
            </a:pPr>
            <a:endParaRPr lang="en-IN" dirty="0"/>
          </a:p>
        </p:txBody>
      </p:sp>
      <p:sp>
        <p:nvSpPr>
          <p:cNvPr id="15" name="Text Placeholder 14"/>
          <p:cNvSpPr>
            <a:spLocks noGrp="1"/>
          </p:cNvSpPr>
          <p:nvPr>
            <p:ph sz="quarter" idx="4294967295"/>
          </p:nvPr>
        </p:nvSpPr>
        <p:spPr>
          <a:xfrm>
            <a:off x="5102225" y="1444625"/>
            <a:ext cx="4041775" cy="3941763"/>
          </a:xfrm>
          <a:noFill/>
        </p:spPr>
        <p:txBody>
          <a:bodyPr>
            <a:normAutofit/>
          </a:bodyPr>
          <a:lstStyle/>
          <a:p>
            <a:pPr marL="0" indent="0">
              <a:buNone/>
            </a:pPr>
            <a:endParaRPr lang="en-IN" sz="4200" b="1" dirty="0" smtClean="0">
              <a:solidFill>
                <a:schemeClr val="accent1">
                  <a:lumMod val="60000"/>
                  <a:lumOff val="40000"/>
                </a:schemeClr>
              </a:solidFill>
            </a:endParaRPr>
          </a:p>
          <a:p>
            <a:pPr marL="342900" indent="-342900">
              <a:buFont typeface="+mj-lt"/>
              <a:buAutoNum type="arabicPeriod"/>
            </a:pPr>
            <a:endParaRPr lang="en-IN" dirty="0"/>
          </a:p>
        </p:txBody>
      </p:sp>
    </p:spTree>
    <p:extLst>
      <p:ext uri="{BB962C8B-B14F-4D97-AF65-F5344CB8AC3E}">
        <p14:creationId xmlns:p14="http://schemas.microsoft.com/office/powerpoint/2010/main" val="25480085"/>
      </p:ext>
    </p:extLst>
  </p:cSld>
  <p:clrMapOvr>
    <a:masterClrMapping/>
  </p:clrMapOvr>
  <p:transition spd="slow">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404664"/>
            <a:ext cx="7772400" cy="1296144"/>
          </a:xfrm>
        </p:spPr>
        <p:txBody>
          <a:bodyPr/>
          <a:lstStyle/>
          <a:p>
            <a:pPr algn="l"/>
            <a:r>
              <a:rPr lang="en-IN" dirty="0" smtClean="0">
                <a:solidFill>
                  <a:schemeClr val="tx1"/>
                </a:solidFill>
                <a:latin typeface="Times New Roman" pitchFamily="18" charset="0"/>
                <a:cs typeface="Times New Roman" pitchFamily="18" charset="0"/>
              </a:rPr>
              <a:t>OBJECTIVES</a:t>
            </a:r>
            <a:r>
              <a:rPr lang="en-IN" dirty="0" smtClean="0">
                <a:solidFill>
                  <a:schemeClr val="tx1"/>
                </a:solidFill>
              </a:rPr>
              <a:t>:-</a:t>
            </a:r>
            <a:endParaRPr lang="en-IN" dirty="0">
              <a:solidFill>
                <a:schemeClr val="tx1"/>
              </a:solidFill>
            </a:endParaRPr>
          </a:p>
        </p:txBody>
      </p:sp>
      <p:sp>
        <p:nvSpPr>
          <p:cNvPr id="3" name="Subtitle 2"/>
          <p:cNvSpPr>
            <a:spLocks noGrp="1"/>
          </p:cNvSpPr>
          <p:nvPr>
            <p:ph type="subTitle" idx="1"/>
          </p:nvPr>
        </p:nvSpPr>
        <p:spPr>
          <a:xfrm>
            <a:off x="685800" y="1700808"/>
            <a:ext cx="7772400" cy="3110503"/>
          </a:xfrm>
        </p:spPr>
        <p:txBody>
          <a:bodyPr>
            <a:normAutofit/>
          </a:bodyPr>
          <a:lstStyle/>
          <a:p>
            <a:pPr algn="l"/>
            <a:endParaRPr lang="en-IN" sz="2800" dirty="0">
              <a:solidFill>
                <a:schemeClr val="bg1"/>
              </a:solidFill>
            </a:endParaRPr>
          </a:p>
          <a:p>
            <a:pPr marL="514350" indent="-514350" algn="l">
              <a:buFont typeface="+mj-lt"/>
              <a:buAutoNum type="arabicPeriod"/>
            </a:pPr>
            <a:r>
              <a:rPr lang="en-IN" sz="2800" dirty="0">
                <a:solidFill>
                  <a:sysClr val="windowText" lastClr="000000"/>
                </a:solidFill>
                <a:latin typeface="Times New Roman" pitchFamily="18" charset="0"/>
                <a:cs typeface="Times New Roman" pitchFamily="18" charset="0"/>
              </a:rPr>
              <a:t>Real-Time Monitoring</a:t>
            </a:r>
          </a:p>
          <a:p>
            <a:pPr marL="514350" indent="-514350" algn="l">
              <a:buFont typeface="+mj-lt"/>
              <a:buAutoNum type="arabicPeriod"/>
            </a:pPr>
            <a:r>
              <a:rPr lang="en-IN" sz="2800" dirty="0">
                <a:solidFill>
                  <a:sysClr val="windowText" lastClr="000000"/>
                </a:solidFill>
                <a:latin typeface="Times New Roman" pitchFamily="18" charset="0"/>
                <a:cs typeface="Times New Roman" pitchFamily="18" charset="0"/>
              </a:rPr>
              <a:t>Automated  Alerts</a:t>
            </a:r>
          </a:p>
          <a:p>
            <a:pPr marL="514350" indent="-514350" algn="l">
              <a:buFont typeface="+mj-lt"/>
              <a:buAutoNum type="arabicPeriod"/>
            </a:pPr>
            <a:r>
              <a:rPr lang="en-IN" sz="2800" dirty="0">
                <a:solidFill>
                  <a:sysClr val="windowText" lastClr="000000"/>
                </a:solidFill>
                <a:latin typeface="Times New Roman" pitchFamily="18" charset="0"/>
                <a:cs typeface="Times New Roman" pitchFamily="18" charset="0"/>
              </a:rPr>
              <a:t>Preventive Maintenance</a:t>
            </a:r>
          </a:p>
          <a:p>
            <a:pPr marL="514350" indent="-514350" algn="l">
              <a:buFont typeface="+mj-lt"/>
              <a:buAutoNum type="arabicPeriod"/>
            </a:pPr>
            <a:r>
              <a:rPr lang="en-IN" sz="2800" dirty="0">
                <a:solidFill>
                  <a:sysClr val="windowText" lastClr="000000"/>
                </a:solidFill>
                <a:latin typeface="Times New Roman" pitchFamily="18" charset="0"/>
                <a:cs typeface="Times New Roman" pitchFamily="18" charset="0"/>
              </a:rPr>
              <a:t>Environmental Protection</a:t>
            </a:r>
          </a:p>
          <a:p>
            <a:pPr marL="514350" indent="-514350" algn="l">
              <a:buFont typeface="+mj-lt"/>
              <a:buAutoNum type="arabicPeriod"/>
            </a:pPr>
            <a:r>
              <a:rPr lang="en-IN" sz="2800" dirty="0">
                <a:solidFill>
                  <a:sysClr val="windowText" lastClr="000000"/>
                </a:solidFill>
                <a:latin typeface="Times New Roman" pitchFamily="18" charset="0"/>
                <a:cs typeface="Times New Roman" pitchFamily="18" charset="0"/>
              </a:rPr>
              <a:t>Workers Safety</a:t>
            </a:r>
          </a:p>
          <a:p>
            <a:pPr algn="l"/>
            <a:endParaRPr lang="en-IN" dirty="0"/>
          </a:p>
        </p:txBody>
      </p:sp>
    </p:spTree>
    <p:extLst>
      <p:ext uri="{BB962C8B-B14F-4D97-AF65-F5344CB8AC3E}">
        <p14:creationId xmlns:p14="http://schemas.microsoft.com/office/powerpoint/2010/main" val="663501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476673"/>
            <a:ext cx="7772400" cy="1368152"/>
          </a:xfrm>
        </p:spPr>
        <p:txBody>
          <a:bodyPr>
            <a:normAutofit/>
          </a:bodyPr>
          <a:lstStyle/>
          <a:p>
            <a:pPr algn="l"/>
            <a:r>
              <a:rPr lang="en-IN" sz="4400" dirty="0" smtClean="0">
                <a:latin typeface="Times New Roman" pitchFamily="18" charset="0"/>
                <a:cs typeface="Times New Roman" pitchFamily="18" charset="0"/>
              </a:rPr>
              <a:t>LITERATURE REVIEW</a:t>
            </a:r>
            <a:endParaRPr lang="en-IN" sz="4400" dirty="0">
              <a:latin typeface="Times New Roman" pitchFamily="18" charset="0"/>
              <a:cs typeface="Times New Roman" pitchFamily="18" charset="0"/>
            </a:endParaRPr>
          </a:p>
        </p:txBody>
      </p:sp>
      <p:sp>
        <p:nvSpPr>
          <p:cNvPr id="5" name="Text Placeholder 4"/>
          <p:cNvSpPr>
            <a:spLocks noGrp="1"/>
          </p:cNvSpPr>
          <p:nvPr>
            <p:ph type="subTitle" idx="1"/>
          </p:nvPr>
        </p:nvSpPr>
        <p:spPr>
          <a:xfrm>
            <a:off x="685800" y="2060848"/>
            <a:ext cx="7772400" cy="2750463"/>
          </a:xfrm>
        </p:spPr>
        <p:txBody>
          <a:bodyPr>
            <a:normAutofit/>
          </a:bodyPr>
          <a:lstStyle/>
          <a:p>
            <a:endParaRPr lang="en-IN" dirty="0" smtClean="0"/>
          </a:p>
          <a:p>
            <a:pPr marL="342900" indent="-342900" algn="l">
              <a:buFont typeface="Wingdings" pitchFamily="2" charset="2"/>
              <a:buChar char="q"/>
            </a:pPr>
            <a:r>
              <a:rPr lang="en-IN" dirty="0" smtClean="0">
                <a:latin typeface="Times New Roman" pitchFamily="18" charset="0"/>
                <a:cs typeface="Times New Roman" pitchFamily="18" charset="0"/>
              </a:rPr>
              <a:t>Literature survey</a:t>
            </a:r>
          </a:p>
          <a:p>
            <a:pPr marL="342900" indent="-342900" algn="l">
              <a:buFont typeface="Wingdings" pitchFamily="2" charset="2"/>
              <a:buChar char="q"/>
            </a:pPr>
            <a:r>
              <a:rPr lang="en-IN" dirty="0" smtClean="0">
                <a:latin typeface="Times New Roman" pitchFamily="18" charset="0"/>
                <a:cs typeface="Times New Roman" pitchFamily="18" charset="0"/>
              </a:rPr>
              <a:t>Evolution of IOT technology in industrial safety</a:t>
            </a:r>
          </a:p>
          <a:p>
            <a:pPr marL="342900" indent="-342900" algn="l">
              <a:buFont typeface="Wingdings" pitchFamily="2" charset="2"/>
              <a:buChar char="q"/>
            </a:pPr>
            <a:r>
              <a:rPr lang="en-IN" dirty="0" smtClean="0">
                <a:latin typeface="Times New Roman" pitchFamily="18" charset="0"/>
                <a:cs typeface="Times New Roman" pitchFamily="18" charset="0"/>
              </a:rPr>
              <a:t>Challenges and limitations</a:t>
            </a:r>
          </a:p>
          <a:p>
            <a:pPr marL="342900" indent="-342900" algn="l">
              <a:buFont typeface="Wingdings" pitchFamily="2" charset="2"/>
              <a:buChar char="q"/>
            </a:pPr>
            <a:r>
              <a:rPr lang="en-IN" dirty="0" smtClean="0">
                <a:latin typeface="Times New Roman" pitchFamily="18" charset="0"/>
                <a:cs typeface="Times New Roman" pitchFamily="18" charset="0"/>
              </a:rPr>
              <a:t>Future directions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8711566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251520" y="274638"/>
            <a:ext cx="7978080" cy="1143000"/>
          </a:xfrm>
        </p:spPr>
        <p:txBody>
          <a:bodyPr>
            <a:normAutofit fontScale="90000"/>
          </a:bodyPr>
          <a:lstStyle/>
          <a:p>
            <a:r>
              <a:rPr lang="en-IN" dirty="0">
                <a:latin typeface="Times New Roman" pitchFamily="18" charset="0"/>
                <a:cs typeface="Times New Roman" pitchFamily="18" charset="0"/>
              </a:rPr>
              <a:t>Problem statement:</a:t>
            </a:r>
            <a:br>
              <a:rPr lang="en-IN" dirty="0">
                <a:latin typeface="Times New Roman" pitchFamily="18" charset="0"/>
                <a:cs typeface="Times New Roman" pitchFamily="18" charset="0"/>
              </a:rPr>
            </a:br>
            <a:endParaRPr lang="en-IN" dirty="0">
              <a:latin typeface="Times New Roman" pitchFamily="18" charset="0"/>
              <a:cs typeface="Times New Roman" pitchFamily="18" charset="0"/>
            </a:endParaRPr>
          </a:p>
        </p:txBody>
      </p:sp>
      <p:sp>
        <p:nvSpPr>
          <p:cNvPr id="2" name="Content Placeholder 1"/>
          <p:cNvSpPr>
            <a:spLocks noGrp="1"/>
          </p:cNvSpPr>
          <p:nvPr>
            <p:ph sz="half" idx="4294967295"/>
          </p:nvPr>
        </p:nvSpPr>
        <p:spPr>
          <a:xfrm>
            <a:off x="395537" y="1125538"/>
            <a:ext cx="8748464" cy="2374900"/>
          </a:xfrm>
        </p:spPr>
        <p:txBody>
          <a:bodyPr>
            <a:normAutofit/>
          </a:bodyPr>
          <a:lstStyle/>
          <a:p>
            <a:pPr>
              <a:buFont typeface="Wingdings" pitchFamily="2" charset="2"/>
              <a:buChar char="q"/>
            </a:pPr>
            <a:r>
              <a:rPr lang="en-US" sz="2000" dirty="0">
                <a:solidFill>
                  <a:sysClr val="windowText" lastClr="000000"/>
                </a:solidFill>
                <a:latin typeface="Times New Roman" pitchFamily="18" charset="0"/>
                <a:cs typeface="Times New Roman" pitchFamily="18" charset="0"/>
              </a:rPr>
              <a:t>Most of the fire-breakouts in industries are due to gas leaks. These Cause dreadful damage to the equipment, human life leading to Injuries, deaths and environment. </a:t>
            </a:r>
            <a:endParaRPr lang="en-US" sz="2000" dirty="0" smtClean="0">
              <a:solidFill>
                <a:sysClr val="windowText" lastClr="000000"/>
              </a:solidFill>
              <a:latin typeface="Times New Roman" pitchFamily="18" charset="0"/>
              <a:cs typeface="Times New Roman" pitchFamily="18" charset="0"/>
            </a:endParaRPr>
          </a:p>
          <a:p>
            <a:pPr>
              <a:buFont typeface="Wingdings" pitchFamily="2" charset="2"/>
              <a:buChar char="q"/>
            </a:pPr>
            <a:r>
              <a:rPr lang="en-US" sz="2000" dirty="0" smtClean="0">
                <a:solidFill>
                  <a:sysClr val="windowText" lastClr="000000"/>
                </a:solidFill>
                <a:latin typeface="Times New Roman" pitchFamily="18" charset="0"/>
                <a:cs typeface="Times New Roman" pitchFamily="18" charset="0"/>
              </a:rPr>
              <a:t>Fire </a:t>
            </a:r>
            <a:r>
              <a:rPr lang="en-US" sz="2000" dirty="0">
                <a:solidFill>
                  <a:sysClr val="windowText" lastClr="000000"/>
                </a:solidFill>
                <a:latin typeface="Times New Roman" pitchFamily="18" charset="0"/>
                <a:cs typeface="Times New Roman" pitchFamily="18" charset="0"/>
              </a:rPr>
              <a:t>can be deadly, destroying homes, wildlife habitat and timber, and polluting the air with emissions harmful to human health. Fire also releases carbon dioxide a key greenhouse gas into the atmosphere. </a:t>
            </a:r>
            <a:endParaRPr lang="en-IN" sz="2000" dirty="0">
              <a:solidFill>
                <a:sysClr val="windowText" lastClr="000000"/>
              </a:solidFill>
              <a:latin typeface="Times New Roman" pitchFamily="18" charset="0"/>
              <a:cs typeface="Times New Roman" pitchFamily="18" charset="0"/>
            </a:endParaRPr>
          </a:p>
        </p:txBody>
      </p:sp>
      <p:pic>
        <p:nvPicPr>
          <p:cNvPr id="9" name="Content Placeholder 8"/>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4355976" y="3284984"/>
            <a:ext cx="4464496" cy="3096344"/>
          </a:xfrm>
        </p:spPr>
      </p:pic>
      <p:sp>
        <p:nvSpPr>
          <p:cNvPr id="10" name="TextBox 9"/>
          <p:cNvSpPr txBox="1"/>
          <p:nvPr/>
        </p:nvSpPr>
        <p:spPr>
          <a:xfrm>
            <a:off x="539552" y="3722115"/>
            <a:ext cx="3168352" cy="1785104"/>
          </a:xfrm>
          <a:prstGeom prst="rect">
            <a:avLst/>
          </a:prstGeom>
          <a:noFill/>
        </p:spPr>
        <p:txBody>
          <a:bodyPr wrap="square" rtlCol="0">
            <a:spAutoFit/>
          </a:bodyPr>
          <a:lstStyle/>
          <a:p>
            <a:pPr algn="ctr"/>
            <a:r>
              <a:rPr lang="en-US" sz="2000" b="1" dirty="0">
                <a:solidFill>
                  <a:schemeClr val="bg2">
                    <a:lumMod val="50000"/>
                  </a:schemeClr>
                </a:solidFill>
                <a:latin typeface="Times New Roman" pitchFamily="18" charset="0"/>
                <a:cs typeface="Times New Roman" pitchFamily="18" charset="0"/>
              </a:rPr>
              <a:t>SO PROPOSED</a:t>
            </a:r>
            <a:r>
              <a:rPr lang="en-US" altLang="ko-KR" sz="2000" b="1" dirty="0">
                <a:solidFill>
                  <a:schemeClr val="bg2">
                    <a:lumMod val="50000"/>
                  </a:schemeClr>
                </a:solidFill>
                <a:latin typeface="Times New Roman" pitchFamily="18" charset="0"/>
                <a:cs typeface="Times New Roman" pitchFamily="18" charset="0"/>
              </a:rPr>
              <a:t>:-</a:t>
            </a:r>
          </a:p>
          <a:p>
            <a:pPr algn="ctr"/>
            <a:r>
              <a:rPr lang="en-US" altLang="ko-KR" sz="2400" b="1" dirty="0"/>
              <a:t> </a:t>
            </a:r>
            <a:r>
              <a:rPr lang="en-US" altLang="ko-KR" sz="2400" b="1" dirty="0">
                <a:latin typeface="Times New Roman" pitchFamily="18" charset="0"/>
                <a:cs typeface="Times New Roman" pitchFamily="18" charset="0"/>
              </a:rPr>
              <a:t>IOT Based Industrial Plant Safety Gas Leakage</a:t>
            </a:r>
            <a:r>
              <a:rPr lang="en-US" altLang="ko-KR" sz="2400" b="1" dirty="0" smtClean="0">
                <a:latin typeface="Times New Roman" pitchFamily="18" charset="0"/>
                <a:cs typeface="Times New Roman" pitchFamily="18" charset="0"/>
              </a:rPr>
              <a:t>.</a:t>
            </a:r>
            <a:endParaRPr lang="en-US" b="1" dirty="0" smtClean="0">
              <a:latin typeface="Times New Roman" pitchFamily="18" charset="0"/>
              <a:cs typeface="Times New Roman" pitchFamily="18" charset="0"/>
            </a:endParaRPr>
          </a:p>
          <a:p>
            <a:pPr algn="ctr"/>
            <a:endParaRPr lang="en-IN" dirty="0"/>
          </a:p>
        </p:txBody>
      </p:sp>
    </p:spTree>
    <p:extLst>
      <p:ext uri="{BB962C8B-B14F-4D97-AF65-F5344CB8AC3E}">
        <p14:creationId xmlns:p14="http://schemas.microsoft.com/office/powerpoint/2010/main" val="735182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1520" y="1257908"/>
            <a:ext cx="8466858" cy="4990492"/>
          </a:xfrm>
        </p:spPr>
        <p:txBody>
          <a:bodyPr/>
          <a:lstStyle/>
          <a:p>
            <a:pPr marL="109728" indent="0">
              <a:buNone/>
            </a:pPr>
            <a:r>
              <a:rPr lang="en-IN" dirty="0" smtClean="0"/>
              <a:t>  </a:t>
            </a:r>
          </a:p>
        </p:txBody>
      </p:sp>
      <p:sp>
        <p:nvSpPr>
          <p:cNvPr id="3" name="Title 2"/>
          <p:cNvSpPr>
            <a:spLocks noGrp="1"/>
          </p:cNvSpPr>
          <p:nvPr>
            <p:ph type="title"/>
          </p:nvPr>
        </p:nvSpPr>
        <p:spPr/>
        <p:txBody>
          <a:bodyPr>
            <a:normAutofit/>
          </a:bodyPr>
          <a:lstStyle/>
          <a:p>
            <a:r>
              <a:rPr lang="en-IN" sz="4800" dirty="0" smtClean="0">
                <a:effectLst/>
                <a:latin typeface="Times New Roman" pitchFamily="18" charset="0"/>
                <a:cs typeface="Times New Roman" pitchFamily="18" charset="0"/>
              </a:rPr>
              <a:t>Block Diagram</a:t>
            </a:r>
            <a:endParaRPr lang="en-IN" sz="4800" dirty="0">
              <a:effectLst/>
              <a:latin typeface="Times New Roman" pitchFamily="18" charset="0"/>
              <a:cs typeface="Times New Roman" pitchFamily="18" charset="0"/>
            </a:endParaRPr>
          </a:p>
        </p:txBody>
      </p:sp>
      <p:sp>
        <p:nvSpPr>
          <p:cNvPr id="4" name="Rectangle 3"/>
          <p:cNvSpPr/>
          <p:nvPr/>
        </p:nvSpPr>
        <p:spPr>
          <a:xfrm>
            <a:off x="838200" y="2166792"/>
            <a:ext cx="1524000" cy="82088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itchFamily="18" charset="0"/>
                <a:cs typeface="Times New Roman" pitchFamily="18" charset="0"/>
              </a:rPr>
              <a:t>MQ-6</a:t>
            </a:r>
          </a:p>
        </p:txBody>
      </p:sp>
      <p:sp>
        <p:nvSpPr>
          <p:cNvPr id="5" name="Rectangle 4"/>
          <p:cNvSpPr/>
          <p:nvPr/>
        </p:nvSpPr>
        <p:spPr>
          <a:xfrm>
            <a:off x="2798823" y="1943100"/>
            <a:ext cx="1828800" cy="3886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itchFamily="18" charset="0"/>
                <a:cs typeface="Times New Roman" pitchFamily="18" charset="0"/>
              </a:rPr>
              <a:t>NOD MCU</a:t>
            </a:r>
            <a:endParaRPr lang="en-IN" b="1" dirty="0">
              <a:latin typeface="Times New Roman" pitchFamily="18" charset="0"/>
              <a:cs typeface="Times New Roman" pitchFamily="18" charset="0"/>
            </a:endParaRPr>
          </a:p>
        </p:txBody>
      </p:sp>
      <p:sp>
        <p:nvSpPr>
          <p:cNvPr id="6" name="Rectangle 5"/>
          <p:cNvSpPr/>
          <p:nvPr/>
        </p:nvSpPr>
        <p:spPr>
          <a:xfrm>
            <a:off x="7628658" y="4315659"/>
            <a:ext cx="1295400" cy="90977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itchFamily="18" charset="0"/>
                <a:cs typeface="Times New Roman" pitchFamily="18" charset="0"/>
              </a:rPr>
              <a:t>Mobile </a:t>
            </a:r>
          </a:p>
          <a:p>
            <a:pPr algn="ctr"/>
            <a:r>
              <a:rPr lang="en-US" b="1" dirty="0" smtClean="0">
                <a:latin typeface="Times New Roman" pitchFamily="18" charset="0"/>
                <a:cs typeface="Times New Roman" pitchFamily="18" charset="0"/>
              </a:rPr>
              <a:t>App</a:t>
            </a:r>
          </a:p>
        </p:txBody>
      </p:sp>
      <p:sp>
        <p:nvSpPr>
          <p:cNvPr id="7" name="Rectangle 6"/>
          <p:cNvSpPr/>
          <p:nvPr/>
        </p:nvSpPr>
        <p:spPr>
          <a:xfrm>
            <a:off x="5257800" y="4463437"/>
            <a:ext cx="1295400" cy="7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itchFamily="18" charset="0"/>
                <a:cs typeface="Times New Roman" pitchFamily="18" charset="0"/>
              </a:rPr>
              <a:t>Wi-Fi </a:t>
            </a:r>
          </a:p>
          <a:p>
            <a:pPr algn="ctr"/>
            <a:endParaRPr lang="en-US" b="1" dirty="0" smtClean="0">
              <a:latin typeface="Times New Roman" pitchFamily="18" charset="0"/>
              <a:cs typeface="Times New Roman" pitchFamily="18" charset="0"/>
            </a:endParaRPr>
          </a:p>
        </p:txBody>
      </p:sp>
      <p:cxnSp>
        <p:nvCxnSpPr>
          <p:cNvPr id="8" name="Straight Arrow Connector 7"/>
          <p:cNvCxnSpPr>
            <a:stCxn id="4" idx="3"/>
          </p:cNvCxnSpPr>
          <p:nvPr/>
        </p:nvCxnSpPr>
        <p:spPr>
          <a:xfrm>
            <a:off x="2362200" y="2577233"/>
            <a:ext cx="51261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endCxn id="7" idx="1"/>
          </p:cNvCxnSpPr>
          <p:nvPr/>
        </p:nvCxnSpPr>
        <p:spPr>
          <a:xfrm>
            <a:off x="4651663" y="4844437"/>
            <a:ext cx="60613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838200" y="3468255"/>
            <a:ext cx="1524000" cy="8358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itchFamily="18" charset="0"/>
                <a:cs typeface="Times New Roman" pitchFamily="18" charset="0"/>
              </a:rPr>
              <a:t>MQ-4</a:t>
            </a:r>
            <a:endParaRPr lang="en-IN" b="1" dirty="0">
              <a:latin typeface="Times New Roman" pitchFamily="18" charset="0"/>
              <a:cs typeface="Times New Roman" pitchFamily="18" charset="0"/>
            </a:endParaRPr>
          </a:p>
        </p:txBody>
      </p:sp>
      <p:sp>
        <p:nvSpPr>
          <p:cNvPr id="11" name="Rectangle 10"/>
          <p:cNvSpPr/>
          <p:nvPr/>
        </p:nvSpPr>
        <p:spPr>
          <a:xfrm>
            <a:off x="858982" y="4717125"/>
            <a:ext cx="1524000" cy="8081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itchFamily="18" charset="0"/>
                <a:cs typeface="Times New Roman" pitchFamily="18" charset="0"/>
              </a:rPr>
              <a:t>MQ-135</a:t>
            </a:r>
          </a:p>
        </p:txBody>
      </p:sp>
      <p:cxnSp>
        <p:nvCxnSpPr>
          <p:cNvPr id="12" name="Straight Arrow Connector 11"/>
          <p:cNvCxnSpPr>
            <a:stCxn id="10" idx="3"/>
          </p:cNvCxnSpPr>
          <p:nvPr/>
        </p:nvCxnSpPr>
        <p:spPr>
          <a:xfrm>
            <a:off x="2362200" y="3886200"/>
            <a:ext cx="49183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382982" y="5276265"/>
            <a:ext cx="49183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288973" y="2166792"/>
            <a:ext cx="1295400" cy="8001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itchFamily="18" charset="0"/>
                <a:cs typeface="Times New Roman" pitchFamily="18" charset="0"/>
              </a:rPr>
              <a:t>Buzzer</a:t>
            </a:r>
            <a:endParaRPr lang="en-IN" b="1" dirty="0">
              <a:latin typeface="Times New Roman" pitchFamily="18" charset="0"/>
              <a:cs typeface="Times New Roman" pitchFamily="18" charset="0"/>
            </a:endParaRPr>
          </a:p>
        </p:txBody>
      </p:sp>
      <p:sp>
        <p:nvSpPr>
          <p:cNvPr id="15" name="Rectangle 14"/>
          <p:cNvSpPr/>
          <p:nvPr/>
        </p:nvSpPr>
        <p:spPr>
          <a:xfrm>
            <a:off x="5288973" y="3352800"/>
            <a:ext cx="1416627" cy="7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itchFamily="18" charset="0"/>
                <a:cs typeface="Times New Roman" pitchFamily="18" charset="0"/>
              </a:rPr>
              <a:t>LED</a:t>
            </a:r>
            <a:endParaRPr lang="en-IN" b="1" dirty="0">
              <a:latin typeface="Times New Roman" pitchFamily="18" charset="0"/>
              <a:cs typeface="Times New Roman" pitchFamily="18" charset="0"/>
            </a:endParaRPr>
          </a:p>
        </p:txBody>
      </p:sp>
      <p:cxnSp>
        <p:nvCxnSpPr>
          <p:cNvPr id="16" name="Straight Arrow Connector 15"/>
          <p:cNvCxnSpPr>
            <a:endCxn id="14" idx="1"/>
          </p:cNvCxnSpPr>
          <p:nvPr/>
        </p:nvCxnSpPr>
        <p:spPr>
          <a:xfrm>
            <a:off x="4682836" y="2566842"/>
            <a:ext cx="60613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15" idx="1"/>
          </p:cNvCxnSpPr>
          <p:nvPr/>
        </p:nvCxnSpPr>
        <p:spPr>
          <a:xfrm>
            <a:off x="4682836" y="3733800"/>
            <a:ext cx="60613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Curved Connector 17"/>
          <p:cNvCxnSpPr/>
          <p:nvPr/>
        </p:nvCxnSpPr>
        <p:spPr>
          <a:xfrm rot="5400000" flipH="1" flipV="1">
            <a:off x="6248400" y="3739892"/>
            <a:ext cx="1981200" cy="83820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Curved Connector 18"/>
          <p:cNvCxnSpPr/>
          <p:nvPr/>
        </p:nvCxnSpPr>
        <p:spPr>
          <a:xfrm rot="16200000" flipH="1">
            <a:off x="7581900" y="3543300"/>
            <a:ext cx="1219200" cy="7620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5257800" y="5486400"/>
            <a:ext cx="1295400" cy="7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itchFamily="18" charset="0"/>
                <a:cs typeface="Times New Roman" pitchFamily="18" charset="0"/>
              </a:rPr>
              <a:t>LCD </a:t>
            </a:r>
          </a:p>
          <a:p>
            <a:pPr algn="ctr"/>
            <a:endParaRPr lang="en-US" b="1" dirty="0" smtClean="0">
              <a:latin typeface="Times New Roman" pitchFamily="18" charset="0"/>
              <a:cs typeface="Times New Roman" pitchFamily="18" charset="0"/>
            </a:endParaRPr>
          </a:p>
        </p:txBody>
      </p:sp>
      <p:cxnSp>
        <p:nvCxnSpPr>
          <p:cNvPr id="21" name="Straight Arrow Connector 20"/>
          <p:cNvCxnSpPr/>
          <p:nvPr/>
        </p:nvCxnSpPr>
        <p:spPr>
          <a:xfrm>
            <a:off x="4648200" y="5715000"/>
            <a:ext cx="60613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380312" y="1943100"/>
            <a:ext cx="1224136" cy="369332"/>
          </a:xfrm>
          <a:prstGeom prst="rect">
            <a:avLst/>
          </a:prstGeom>
          <a:noFill/>
        </p:spPr>
        <p:txBody>
          <a:bodyPr wrap="square" rtlCol="0">
            <a:spAutoFit/>
          </a:bodyPr>
          <a:lstStyle/>
          <a:p>
            <a:endParaRPr lang="en-IN" dirty="0"/>
          </a:p>
        </p:txBody>
      </p:sp>
      <p:sp>
        <p:nvSpPr>
          <p:cNvPr id="41" name="Cloud Callout 40"/>
          <p:cNvSpPr/>
          <p:nvPr/>
        </p:nvSpPr>
        <p:spPr>
          <a:xfrm>
            <a:off x="7239000" y="1628800"/>
            <a:ext cx="1524000" cy="1109204"/>
          </a:xfrm>
          <a:prstGeom prst="cloud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itchFamily="18" charset="0"/>
                <a:cs typeface="Times New Roman" pitchFamily="18" charset="0"/>
              </a:rPr>
              <a:t>Cloud</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4025443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536" y="908720"/>
            <a:ext cx="8229600" cy="5184576"/>
          </a:xfrm>
        </p:spPr>
        <p:txBody>
          <a:bodyPr>
            <a:noAutofit/>
          </a:bodyPr>
          <a:lstStyle/>
          <a:p>
            <a:pPr marL="109728" indent="0">
              <a:buNone/>
            </a:pPr>
            <a:r>
              <a:rPr lang="en-US" sz="3600" b="1" dirty="0">
                <a:solidFill>
                  <a:srgbClr val="FFC000"/>
                </a:solidFill>
                <a:latin typeface="Times New Roman" pitchFamily="18" charset="0"/>
                <a:cs typeface="Times New Roman" pitchFamily="18" charset="0"/>
              </a:rPr>
              <a:t>Hardware Requirements</a:t>
            </a:r>
          </a:p>
          <a:p>
            <a:pPr marL="566928" indent="-457200">
              <a:buFont typeface="+mj-lt"/>
              <a:buAutoNum type="arabicParenR"/>
            </a:pPr>
            <a:r>
              <a:rPr lang="en-US" sz="2400" dirty="0">
                <a:latin typeface="Times New Roman" pitchFamily="18" charset="0"/>
                <a:cs typeface="Times New Roman" pitchFamily="18" charset="0"/>
              </a:rPr>
              <a:t>NOD MCU</a:t>
            </a:r>
          </a:p>
          <a:p>
            <a:pPr marL="566928" indent="-457200">
              <a:buFont typeface="+mj-lt"/>
              <a:buAutoNum type="arabicParenR"/>
            </a:pPr>
            <a:r>
              <a:rPr lang="en-US" sz="2400" dirty="0">
                <a:latin typeface="Times New Roman" pitchFamily="18" charset="0"/>
                <a:cs typeface="Times New Roman" pitchFamily="18" charset="0"/>
              </a:rPr>
              <a:t>MQ-4 Sensor.</a:t>
            </a:r>
          </a:p>
          <a:p>
            <a:pPr marL="566928" indent="-457200">
              <a:buFont typeface="+mj-lt"/>
              <a:buAutoNum type="arabicParenR"/>
            </a:pPr>
            <a:r>
              <a:rPr lang="en-US" sz="2400" dirty="0">
                <a:latin typeface="Times New Roman" pitchFamily="18" charset="0"/>
                <a:cs typeface="Times New Roman" pitchFamily="18" charset="0"/>
              </a:rPr>
              <a:t>MQ-6 Sensor.</a:t>
            </a:r>
          </a:p>
          <a:p>
            <a:pPr marL="566928" indent="-457200">
              <a:buFont typeface="+mj-lt"/>
              <a:buAutoNum type="arabicParenR"/>
            </a:pPr>
            <a:r>
              <a:rPr lang="en-US" sz="2400" dirty="0">
                <a:latin typeface="Times New Roman" pitchFamily="18" charset="0"/>
                <a:cs typeface="Times New Roman" pitchFamily="18" charset="0"/>
              </a:rPr>
              <a:t>MQ-135 Sensor.</a:t>
            </a:r>
          </a:p>
          <a:p>
            <a:pPr marL="566928" indent="-457200">
              <a:buFont typeface="+mj-lt"/>
              <a:buAutoNum type="arabicParenR"/>
            </a:pPr>
            <a:r>
              <a:rPr lang="en-US" sz="2400" dirty="0">
                <a:latin typeface="Times New Roman" pitchFamily="18" charset="0"/>
                <a:cs typeface="Times New Roman" pitchFamily="18" charset="0"/>
              </a:rPr>
              <a:t>Buzzer.</a:t>
            </a:r>
          </a:p>
          <a:p>
            <a:pPr marL="566928" indent="-457200">
              <a:buFont typeface="+mj-lt"/>
              <a:buAutoNum type="arabicParenR"/>
            </a:pPr>
            <a:r>
              <a:rPr lang="en-US" sz="2400" dirty="0">
                <a:latin typeface="Times New Roman" pitchFamily="18" charset="0"/>
                <a:cs typeface="Times New Roman" pitchFamily="18" charset="0"/>
              </a:rPr>
              <a:t>LED.</a:t>
            </a:r>
          </a:p>
          <a:p>
            <a:pPr marL="566928" indent="-457200">
              <a:buFont typeface="+mj-lt"/>
              <a:buAutoNum type="arabicParenR"/>
            </a:pPr>
            <a:r>
              <a:rPr lang="en-US" sz="2400" dirty="0">
                <a:latin typeface="Times New Roman" pitchFamily="18" charset="0"/>
                <a:cs typeface="Times New Roman" pitchFamily="18" charset="0"/>
              </a:rPr>
              <a:t>LCD.</a:t>
            </a:r>
          </a:p>
          <a:p>
            <a:pPr marL="109728" indent="0">
              <a:buNone/>
            </a:pPr>
            <a:r>
              <a:rPr lang="en-US" sz="3600" b="1" dirty="0">
                <a:solidFill>
                  <a:srgbClr val="FFC000"/>
                </a:solidFill>
                <a:latin typeface="Times New Roman" pitchFamily="18" charset="0"/>
                <a:cs typeface="Times New Roman" pitchFamily="18" charset="0"/>
              </a:rPr>
              <a:t>Software Requirements</a:t>
            </a:r>
          </a:p>
          <a:p>
            <a:pPr marL="566928" indent="-457200">
              <a:buFont typeface="+mj-lt"/>
              <a:buAutoNum type="arabicParenR"/>
            </a:pPr>
            <a:r>
              <a:rPr lang="en-US" sz="2400" dirty="0" err="1">
                <a:latin typeface="Times New Roman" pitchFamily="18" charset="0"/>
                <a:cs typeface="Times New Roman" pitchFamily="18" charset="0"/>
              </a:rPr>
              <a:t>Arduino</a:t>
            </a:r>
            <a:r>
              <a:rPr lang="en-US" sz="2400" dirty="0">
                <a:latin typeface="Times New Roman" pitchFamily="18" charset="0"/>
                <a:cs typeface="Times New Roman" pitchFamily="18" charset="0"/>
              </a:rPr>
              <a:t> IDE.</a:t>
            </a:r>
          </a:p>
          <a:p>
            <a:pPr marL="566928" indent="-457200">
              <a:buFont typeface="+mj-lt"/>
              <a:buAutoNum type="arabicParenR"/>
            </a:pPr>
            <a:r>
              <a:rPr lang="en-US" sz="2400" dirty="0">
                <a:latin typeface="Times New Roman" pitchFamily="18" charset="0"/>
                <a:cs typeface="Times New Roman" pitchFamily="18" charset="0"/>
              </a:rPr>
              <a:t>Proteus &amp; </a:t>
            </a:r>
            <a:r>
              <a:rPr lang="en-US" sz="2400" dirty="0" err="1">
                <a:latin typeface="Times New Roman" pitchFamily="18" charset="0"/>
                <a:cs typeface="Times New Roman" pitchFamily="18" charset="0"/>
              </a:rPr>
              <a:t>Blynk</a:t>
            </a:r>
            <a:r>
              <a:rPr lang="en-US" sz="2400" dirty="0">
                <a:latin typeface="Times New Roman" pitchFamily="18" charset="0"/>
                <a:cs typeface="Times New Roman" pitchFamily="18" charset="0"/>
              </a:rPr>
              <a:t> App.</a:t>
            </a:r>
          </a:p>
          <a:p>
            <a:pPr marL="109728" indent="0">
              <a:buNone/>
            </a:pPr>
            <a:endParaRPr lang="en-IN" sz="24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3" name="Title 2"/>
          <p:cNvSpPr>
            <a:spLocks noGrp="1"/>
          </p:cNvSpPr>
          <p:nvPr>
            <p:ph type="title"/>
          </p:nvPr>
        </p:nvSpPr>
        <p:spPr>
          <a:xfrm>
            <a:off x="323528" y="116632"/>
            <a:ext cx="8373616" cy="648072"/>
          </a:xfrm>
        </p:spPr>
        <p:txBody>
          <a:bodyPr>
            <a:normAutofit fontScale="90000"/>
          </a:bodyPr>
          <a:lstStyle/>
          <a:p>
            <a:r>
              <a:rPr lang="en-IN" dirty="0" smtClean="0"/>
              <a:t>Hardware and Software </a:t>
            </a:r>
            <a:r>
              <a:rPr lang="en-IN" dirty="0" err="1" smtClean="0"/>
              <a:t>requiremnt</a:t>
            </a:r>
            <a:endParaRPr lang="en-IN" dirty="0"/>
          </a:p>
        </p:txBody>
      </p:sp>
    </p:spTree>
    <p:extLst>
      <p:ext uri="{BB962C8B-B14F-4D97-AF65-F5344CB8AC3E}">
        <p14:creationId xmlns:p14="http://schemas.microsoft.com/office/powerpoint/2010/main" val="1539543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536" y="404664"/>
            <a:ext cx="7988424" cy="1152127"/>
          </a:xfrm>
        </p:spPr>
        <p:txBody>
          <a:bodyPr>
            <a:normAutofit/>
          </a:bodyPr>
          <a:lstStyle/>
          <a:p>
            <a:pPr algn="l"/>
            <a:endParaRPr lang="en-IN" dirty="0"/>
          </a:p>
        </p:txBody>
      </p:sp>
      <p:sp>
        <p:nvSpPr>
          <p:cNvPr id="3" name="Subtitle 2"/>
          <p:cNvSpPr>
            <a:spLocks noGrp="1"/>
          </p:cNvSpPr>
          <p:nvPr>
            <p:ph type="subTitle" idx="1"/>
          </p:nvPr>
        </p:nvSpPr>
        <p:spPr>
          <a:xfrm>
            <a:off x="323528" y="2204864"/>
            <a:ext cx="7772400" cy="2520280"/>
          </a:xfrm>
        </p:spPr>
        <p:txBody>
          <a:bodyPr/>
          <a:lstStyle/>
          <a:p>
            <a:endParaRPr lang="en-IN" dirty="0"/>
          </a:p>
        </p:txBody>
      </p:sp>
    </p:spTree>
    <p:extLst>
      <p:ext uri="{BB962C8B-B14F-4D97-AF65-F5344CB8AC3E}">
        <p14:creationId xmlns:p14="http://schemas.microsoft.com/office/powerpoint/2010/main" val="1091646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228</TotalTime>
  <Words>595</Words>
  <Application>Microsoft Office PowerPoint</Application>
  <PresentationFormat>On-screen Show (4:3)</PresentationFormat>
  <Paragraphs>78</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Concourse</vt:lpstr>
      <vt:lpstr>Title  "IOT-Based Industrial Plant Safety Gas Leakage System" </vt:lpstr>
      <vt:lpstr>SUBMITTED BY Akanksha Pathak Kalyani Gadade Shruti Nimbalkar Srushti Suryawanshi </vt:lpstr>
      <vt:lpstr>Content</vt:lpstr>
      <vt:lpstr>  </vt:lpstr>
      <vt:lpstr>  Introduction</vt:lpstr>
      <vt:lpstr>Motivation</vt:lpstr>
      <vt:lpstr>OBJECTIVES:-</vt:lpstr>
      <vt:lpstr>LITERATURE REVIEW</vt:lpstr>
      <vt:lpstr>Problem statement: </vt:lpstr>
      <vt:lpstr>Block Diagram</vt:lpstr>
      <vt:lpstr>Hardware and Software requiremnt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 Title: "IoT-Based Industrial Plant Safety Gas Leakage System"</dc:title>
  <dc:creator>dell</dc:creator>
  <cp:lastModifiedBy>dell</cp:lastModifiedBy>
  <cp:revision>23</cp:revision>
  <dcterms:created xsi:type="dcterms:W3CDTF">2024-11-02T11:41:44Z</dcterms:created>
  <dcterms:modified xsi:type="dcterms:W3CDTF">2024-11-06T17:16:22Z</dcterms:modified>
</cp:coreProperties>
</file>